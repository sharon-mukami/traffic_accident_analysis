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Dela Gothic One"/>
      <p:regular r:id="rId201314"/>
    </p:embeddedFont>
    <p:embeddedFont>
      <p:font typeface="DM Sans"/>
      <p:regular r:id="rId201315"/>
    </p:embeddedFont>
    <p:embeddedFont>
      <p:font typeface="DM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1916385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Traffic Accident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3943" y="3010346"/>
            <a:ext cx="5224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Data-Driven Study of Road Safety Patterns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643979"/>
            <a:ext cx="4767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1427857"/>
            <a:ext cx="22183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About This Study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902943" y="1785863"/>
            <a:ext cx="2218358" cy="1638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comprehensive analysis of 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12,316 accident records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25 variables, uncovering the patterns and root causes behind road accidents.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Prepared by: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Sharon Mukami Mungai &amp; Brian Muuo Kitili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56462" y="1427857"/>
            <a:ext cx="22183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Research Goal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56462" y="1785863"/>
            <a:ext cx="2218358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temporal, spatial, and behavioral patterns contributing to road accidents — and translate those findings into actionable safety recommendations for authorities and drivers.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02943" y="3698677"/>
            <a:ext cx="2315840" cy="800770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43065" y="3838798"/>
            <a:ext cx="203559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12,316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43065" y="4142631"/>
            <a:ext cx="203559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Accident records analyzed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54142" y="3698677"/>
            <a:ext cx="2315914" cy="800770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4264" y="3838798"/>
            <a:ext cx="203567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25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94264" y="4142631"/>
            <a:ext cx="2035671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Variables examined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1273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Research Questions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428973"/>
            <a:ext cx="4030340" cy="1433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07853" y="1530548"/>
            <a:ext cx="162446" cy="203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352" y="1970559"/>
            <a:ext cx="372152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When?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8352" y="2274391"/>
            <a:ext cx="3721522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do most accidents occur — by time of day and day of week?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9642" y="1428973"/>
            <a:ext cx="4030414" cy="1433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73627" y="1530548"/>
            <a:ext cx="162446" cy="203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794052" y="1970559"/>
            <a:ext cx="37215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Where?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794052" y="2274391"/>
            <a:ext cx="372159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locations are accident hotspots in the urban environment?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2997547"/>
            <a:ext cx="4030340" cy="1433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07853" y="3099122"/>
            <a:ext cx="162446" cy="203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28352" y="3539133"/>
            <a:ext cx="372152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Why?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28352" y="3842965"/>
            <a:ext cx="3721522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are the leading behavioral and environmental causes?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9642" y="2997547"/>
            <a:ext cx="4030414" cy="1433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73627" y="3099122"/>
            <a:ext cx="162446" cy="203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794052" y="3539133"/>
            <a:ext cx="37215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Who?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794052" y="3842965"/>
            <a:ext cx="372159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road users and age groups are most affected?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41424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Accident Hotspots by Location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242268"/>
            <a:ext cx="5211812" cy="2109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0916" y="1691208"/>
            <a:ext cx="26538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Where Accidents Cluster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020916" y="2049214"/>
            <a:ext cx="265382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Office areas account for the single largest share of accidents, driven by high vehicle density during drop-off and pick-up windows.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3656037"/>
            <a:ext cx="2641774" cy="10460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4552" y="3810446"/>
            <a:ext cx="225675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Office Areas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04552" y="4114279"/>
            <a:ext cx="225675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3,451 accidents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highest concentration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1076" y="3656037"/>
            <a:ext cx="2641774" cy="10460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81685" y="3810446"/>
            <a:ext cx="225675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Residential Areas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481685" y="4114279"/>
            <a:ext cx="225675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2,060 accidents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secondary hotspot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8209" y="3656037"/>
            <a:ext cx="2641848" cy="10460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8818" y="3810446"/>
            <a:ext cx="22568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Church Areas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258818" y="4114279"/>
            <a:ext cx="225683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1,060 accidents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notable weekend clustering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3261"/>
            <a:ext cx="8196114" cy="43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Peak Accident Times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73943" y="1513656"/>
            <a:ext cx="2657252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Rush-Hour Risk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73943" y="1864072"/>
            <a:ext cx="2657252" cy="1480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Accident frequency follows a clear commuter pattern, spiking sharply at morning and evening rush hours. The 5 PM evening peak is nearly </a:t>
            </a:r>
            <a:pPr algn="l"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40% higher</a:t>
            </a:r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the 8 AM morning peak, likely reflecting driver fatigue and traffic congestion at the end of the workday.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1147" y="1156022"/>
            <a:ext cx="5213598" cy="25335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3943" y="3984650"/>
            <a:ext cx="4032424" cy="785515"/>
          </a:xfrm>
          <a:prstGeom prst="roundRect">
            <a:avLst>
              <a:gd name="adj" fmla="val 7127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1981" y="4122688"/>
            <a:ext cx="3756347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 PM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1981" y="4420567"/>
            <a:ext cx="3756347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1,200 accidents — highest hourly count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37559" y="3984650"/>
            <a:ext cx="4032498" cy="785515"/>
          </a:xfrm>
          <a:prstGeom prst="roundRect">
            <a:avLst>
              <a:gd name="adj" fmla="val 7127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75597" y="4122688"/>
            <a:ext cx="3756422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 AM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75597" y="4420567"/>
            <a:ext cx="3756422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850 accidents — secondary morning peak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84721"/>
            <a:ext cx="8196114" cy="43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Friday Effect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73943" y="1085552"/>
            <a:ext cx="819611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Friday stands out dramatically from every other day of the week — recording </a:t>
            </a:r>
            <a:pPr algn="l"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3,700 accidents</a:t>
            </a:r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which is </a:t>
            </a:r>
            <a:pPr algn="l"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2.5× higher</a:t>
            </a:r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Sunday's 1,450. Mid-week days cluster between 1,650–1,850 accidents.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803797"/>
            <a:ext cx="4617095" cy="28074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20990" y="2265611"/>
            <a:ext cx="325375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Friday?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20990" y="2616026"/>
            <a:ext cx="3253755" cy="161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End-of-week fatigue and reduced driver alertness</a:t>
            </a:r>
            <a:endParaRPr lang="en-US" sz="1000" dirty="0"/>
          </a:p>
          <a:p>
            <a:pPr algn="l" marL="203200" indent="-2032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traffic volumes as commuters head home for the weekend</a:t>
            </a:r>
            <a:endParaRPr lang="en-US" sz="1000" dirty="0"/>
          </a:p>
          <a:p>
            <a:pPr algn="l" marL="203200" indent="-2032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 activities increasing late-night driving</a:t>
            </a:r>
            <a:endParaRPr lang="en-US" sz="1000" dirty="0"/>
          </a:p>
          <a:p>
            <a:pPr algn="l" marL="203200" indent="-2032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Sunday is the safest day — lowest accident count at 1,450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13519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Leading Causes of Accidents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075283"/>
            <a:ext cx="5226248" cy="28091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3978" y="1971824"/>
            <a:ext cx="2680767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Behavior Is the Primary Driver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3978" y="2465115"/>
            <a:ext cx="2680767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 is clear: </a:t>
            </a:r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driver behavior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not road conditions or weather — is the dominant cause of accidents across all categories.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368" y="4121200"/>
            <a:ext cx="177701" cy="177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8962" y="4117628"/>
            <a:ext cx="226062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Safe Distancing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58962" y="4374579"/>
            <a:ext cx="22606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2,250 accidents — the single most common cause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3566" y="4121200"/>
            <a:ext cx="177701" cy="1777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34160" y="4117628"/>
            <a:ext cx="226062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Improper Lane Changes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634160" y="4374579"/>
            <a:ext cx="22606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3,300 combined accidents across related violations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8764" y="4121200"/>
            <a:ext cx="177701" cy="1777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9358" y="4117628"/>
            <a:ext cx="226062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Careless Driving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409358" y="4374579"/>
            <a:ext cx="22606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1,400 accidents attributed to general recklessness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16496"/>
            <a:ext cx="8196114" cy="25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Accident Severity &amp; Weather Conditions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3943" y="692125"/>
            <a:ext cx="8196114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Severity Breakdown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27337" y="1397571"/>
            <a:ext cx="962844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85.8%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1669" y="908298"/>
            <a:ext cx="1174254" cy="1174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943" y="2147367"/>
            <a:ext cx="4069779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Slight Injuries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73943" y="2303190"/>
            <a:ext cx="4069779" cy="98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Majority of accidents result in minor injuries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53671" y="1397571"/>
            <a:ext cx="962844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14.2%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3" y="908298"/>
            <a:ext cx="1174254" cy="1174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0277" y="2147367"/>
            <a:ext cx="4069779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Serious Injuries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600277" y="2303190"/>
            <a:ext cx="4069779" cy="98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significant share still cause severe harm</a:t>
            </a:r>
            <a:endParaRPr lang="en-US" sz="600" dirty="0"/>
          </a:p>
        </p:txBody>
      </p:sp>
      <p:sp>
        <p:nvSpPr>
          <p:cNvPr id="12" name="Shape 8"/>
          <p:cNvSpPr/>
          <p:nvPr/>
        </p:nvSpPr>
        <p:spPr>
          <a:xfrm>
            <a:off x="473943" y="2452911"/>
            <a:ext cx="8196114" cy="223912"/>
          </a:xfrm>
          <a:prstGeom prst="roundRect">
            <a:avLst>
              <a:gd name="adj" fmla="val 14684"/>
            </a:avLst>
          </a:prstGeom>
          <a:solidFill>
            <a:srgbClr val="740B0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27" y="2550765"/>
            <a:ext cx="97854" cy="782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8365" y="2517725"/>
            <a:ext cx="8320608" cy="98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Critically, </a:t>
            </a:r>
            <a:pPr algn="l" indent="0" marL="0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81% of all accidents occur in normal weather</a:t>
            </a:r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confirming that conditions are not the root cause. Driver behavior is.</a:t>
            </a:r>
            <a:endParaRPr lang="en-US" sz="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3" y="2727722"/>
            <a:ext cx="2936230" cy="1999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83753"/>
            <a:ext cx="8196114" cy="43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Vehicles &amp; Casualties by Age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148730"/>
            <a:ext cx="4363864" cy="2348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62550" y="1132805"/>
            <a:ext cx="35121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Who Is Most at Risk?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162550" y="1475631"/>
            <a:ext cx="3512195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aged </a:t>
            </a:r>
            <a:pPr algn="l" indent="0" marL="0">
              <a:lnSpc>
                <a:spcPct val="131000"/>
              </a:lnSpc>
              <a:buNone/>
            </a:pPr>
            <a:r>
              <a:rPr lang="en-US" sz="10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18–30</a:t>
            </a:r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represent the highest casualty group with 3,110 recorded casualties — making targeted education for this cohort a critical priority.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73943" y="3782764"/>
            <a:ext cx="2647355" cy="976908"/>
          </a:xfrm>
          <a:prstGeom prst="roundRect">
            <a:avLst>
              <a:gd name="adj" fmla="val 5640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823" y="3918645"/>
            <a:ext cx="23755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Automobiles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9823" y="4210645"/>
            <a:ext cx="2375595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4,100 accidents — highest by vehicle type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8323" y="3782764"/>
            <a:ext cx="2647355" cy="976908"/>
          </a:xfrm>
          <a:prstGeom prst="roundRect">
            <a:avLst>
              <a:gd name="adj" fmla="val 5640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4203" y="3918645"/>
            <a:ext cx="23755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Large Lorries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384203" y="4210645"/>
            <a:ext cx="2375595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2,150 accidents — significant secondary risk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22702" y="3782764"/>
            <a:ext cx="2647355" cy="976908"/>
          </a:xfrm>
          <a:prstGeom prst="roundRect">
            <a:avLst>
              <a:gd name="adj" fmla="val 5640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58582" y="3918645"/>
            <a:ext cx="2375595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Age 18–30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58582" y="4210645"/>
            <a:ext cx="2375595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3,110 casualties — most vulnerable group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438001"/>
            <a:ext cx="4767114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Findings Summary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970657"/>
            <a:ext cx="4767114" cy="8587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1329" y="1290935"/>
            <a:ext cx="174501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53629" y="1101254"/>
            <a:ext cx="405683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Behavior Over Weather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53629" y="1352624"/>
            <a:ext cx="4056831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 behavior (poor distancing, lane discipline) overwhelmingly outweighs weather as a cause — 81% of accidents happen in clear conditions.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1929333"/>
            <a:ext cx="4767114" cy="8587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1329" y="2249612"/>
            <a:ext cx="174501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053629" y="2059930"/>
            <a:ext cx="405683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Young Adults Most Vulnerable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53629" y="2311301"/>
            <a:ext cx="4056831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18–30 age group accounts for the highest casualty count at 3,110 — a key demographic for targeted intervention.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943" y="2888010"/>
            <a:ext cx="4767114" cy="8587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329" y="3208288"/>
            <a:ext cx="174501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53629" y="3018606"/>
            <a:ext cx="405683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Peak Hours Are Predictable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053629" y="3269977"/>
            <a:ext cx="4056831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PM and 8 AM consistently spike — enforcement and awareness resources should be concentrated at these windows.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3943" y="3846686"/>
            <a:ext cx="4767114" cy="8587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1329" y="4166964"/>
            <a:ext cx="174501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053629" y="3977283"/>
            <a:ext cx="405683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Friday Is an Outlier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1053629" y="4228654"/>
            <a:ext cx="4056831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2.5× Sunday's accident count, Friday demands special attention in enforcement planning and public communications.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66490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Recommendations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682725"/>
            <a:ext cx="270793" cy="2707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3954" y="1729234"/>
            <a:ext cx="3573438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Strengthen Peak-Hour Enforcement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3954" y="2255713"/>
            <a:ext cx="357343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traffic enforcement resources during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 PM and 8 AM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windows to deter dangerous behavior when accident risk is highest.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609" y="1682725"/>
            <a:ext cx="270793" cy="2707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96619" y="1729234"/>
            <a:ext cx="357343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Target Hotspot Campaigns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96619" y="2033067"/>
            <a:ext cx="357343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road safety campaigns in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office and residential areas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where accident density is greatest.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3176588"/>
            <a:ext cx="270793" cy="2707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3954" y="3223096"/>
            <a:ext cx="357343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Young Driver Education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13954" y="3526929"/>
            <a:ext cx="357343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 dedicated education programs for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drivers aged 18–30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 most affected demographic across all vehicle types.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6609" y="3176588"/>
            <a:ext cx="270793" cy="2707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96619" y="3223096"/>
            <a:ext cx="357343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Promote Safe Driving Behaviors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096619" y="3526929"/>
            <a:ext cx="357343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public awareness initiatives on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safe following distance and lane discipline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two behaviors most linked to accident causation.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2026-08-06T15:09:56Z</dcterms:created>
  <dcterms:modified xsi:type="dcterms:W3CDTF">2026-08-06T15:09:56Z</dcterms:modified>
</cp:coreProperties>
</file>